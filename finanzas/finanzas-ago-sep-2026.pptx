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Entra</c:v>
                </c:pt>
              </c:strCache>
            </c:strRef>
          </c:tx>
          <c:spPr>
            <a:solidFill>
              <a:srgbClr val="1B5E43"/>
            </a:solidFill>
            <a:effectLst/>
          </c:spPr>
          <c:invertIfNegative val="0"/>
          <c:dLbls>
            <c:numFmt formatCode="#,##0,,&quot;M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B7C7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Agosto</c:v>
                  </c:pt>
                  <c:pt idx="1">
                    <c:v>Septiembre</c:v>
                  </c:pt>
                  <c:pt idx="2">
                    <c:v>Octubre base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4000000</c:v>
                </c:pt>
                <c:pt idx="1">
                  <c:v>3700000</c:v>
                </c:pt>
                <c:pt idx="2">
                  <c:v>1700000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</c:v>
                </c:pt>
              </c:strCache>
            </c:strRef>
          </c:tx>
          <c:spPr>
            <a:solidFill>
              <a:srgbClr val="C4553D"/>
            </a:solidFill>
            <a:effectLst/>
          </c:spPr>
          <c:invertIfNegative val="0"/>
          <c:dLbls>
            <c:numFmt formatCode="#,##0,,&quot;M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B7C7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Agosto</c:v>
                  </c:pt>
                  <c:pt idx="1">
                    <c:v>Septiembre</c:v>
                  </c:pt>
                  <c:pt idx="2">
                    <c:v>Octubre base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3350000</c:v>
                </c:pt>
                <c:pt idx="1">
                  <c:v>350000</c:v>
                </c:pt>
                <c:pt idx="2">
                  <c:v>350000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Queda</c:v>
                </c:pt>
              </c:strCache>
            </c:strRef>
          </c:tx>
          <c:spPr>
            <a:solidFill>
              <a:srgbClr val="E8B44A"/>
            </a:solidFill>
            <a:effectLst/>
          </c:spPr>
          <c:invertIfNegative val="0"/>
          <c:dLbls>
            <c:numFmt formatCode="#,##0,,&quot;M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B7C7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Agosto</c:v>
                  </c:pt>
                  <c:pt idx="1">
                    <c:v>Septiembre</c:v>
                  </c:pt>
                  <c:pt idx="2">
                    <c:v>Octubre base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650000</c:v>
                </c:pt>
                <c:pt idx="1">
                  <c:v>3350000</c:v>
                </c:pt>
                <c:pt idx="2">
                  <c:v>1350000</c:v>
                </c:pt>
              </c:numCache>
            </c:numRef>
          </c:val>
        </c:ser>
        <c:dLbls>
          <c:numFmt formatCode="#,##0,,&quot;M&quot;" sourceLinked="0"/>
          <c:txPr>
            <a:bodyPr/>
            <a:lstStyle/>
            <a:p>
              <a:pPr>
                <a:defRPr b="0" i="0" strike="noStrike" sz="900" u="none">
                  <a:solidFill>
                    <a:srgbClr val="6B7C7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E2A2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3DD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7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00000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6B7C7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Septiembre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5E43"/>
              </a:solidFill>
              <a:effectLst/>
            </c:spPr>
          </c:dPt>
          <c:dPt>
            <c:idx val="1"/>
            <c:bubble3D val="0"/>
            <c:spPr>
              <a:solidFill>
                <a:srgbClr val="E8B44A"/>
              </a:solidFill>
              <a:effectLst/>
            </c:spPr>
          </c:dPt>
          <c:dPt>
            <c:idx val="2"/>
            <c:bubble3D val="0"/>
            <c:spPr>
              <a:solidFill>
                <a:srgbClr val="0E2A2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Recurrentes</c:v>
                </c:pt>
                <c:pt idx="1">
                  <c:v>Animación</c:v>
                </c:pt>
                <c:pt idx="2">
                  <c:v>Santander / Landia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1700000</c:v>
                </c:pt>
                <c:pt idx="1">
                  <c:v>1600000</c:v>
                </c:pt>
                <c:pt idx="2">
                  <c:v>400000</c:v>
                </c:pt>
              </c:numCache>
            </c:numRef>
          </c:val>
        </c:ser>
        <c:firstSliceAng val="0"/>
        <c:holeSize val="58"/>
      </c:doughnutChart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C7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de finanzas con los números corregidos: Fiat MP se va, Mariela se paga 50.000 por cliente recurrente, y el único costo fijo mensual es Mariela.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costo de Mariela es variable, no fijo: escala con la cantidad de clientes recurrentes.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Agosto tiene 2.950.000 de gastos puntuales: financista, tarjeta y multa. Sin ellos el mes cerraba en 3.600.000.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Fiat MP ya no aparece. El mes queda limpio: el único costo es Mariela.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preguntando estas cuatro cosas; con las respuestas se rehace la proyección de octubre en adelante.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852160" cy="5852160"/>
          </a:xfrm>
          <a:prstGeom prst="ellipse">
            <a:avLst/>
          </a:prstGeom>
          <a:solidFill>
            <a:srgbClr val="1B5E43"/>
          </a:solidFill>
          <a:ln w="12700">
            <a:solidFill>
              <a:srgbClr val="1B5E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4206240"/>
            <a:ext cx="3108960" cy="3108960"/>
          </a:xfrm>
          <a:prstGeom prst="ellipse">
            <a:avLst/>
          </a:prstGeom>
          <a:solidFill>
            <a:srgbClr val="16382D"/>
          </a:solidFill>
          <a:ln w="12700">
            <a:solidFill>
              <a:srgbClr val="1638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CHIMICHURRI  ·  FINANZAS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manejar</a:t>
            </a:r>
            <a:endParaRPr lang="en-US" sz="52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plata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66928" y="379476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y septiembre 2026 · números corregidos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4800600"/>
            <a:ext cx="3337560" cy="1170432"/>
          </a:xfrm>
          <a:prstGeom prst="roundRect">
            <a:avLst>
              <a:gd name="adj" fmla="val 7813"/>
            </a:avLst>
          </a:prstGeom>
          <a:solidFill>
            <a:srgbClr val="16382D"/>
          </a:solidFill>
          <a:ln w="12700">
            <a:solidFill>
              <a:srgbClr val="2C55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9834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8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 650.000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22960" y="547725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agosto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78808" y="4800600"/>
            <a:ext cx="3337560" cy="1170432"/>
          </a:xfrm>
          <a:prstGeom prst="roundRect">
            <a:avLst>
              <a:gd name="adj" fmla="val 7813"/>
            </a:avLst>
          </a:prstGeom>
          <a:solidFill>
            <a:srgbClr val="16382D"/>
          </a:solidFill>
          <a:ln w="12700">
            <a:solidFill>
              <a:srgbClr val="2C55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49834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8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 3.350.000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434840" y="547725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septiembre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90688" y="4800600"/>
            <a:ext cx="3337560" cy="1170432"/>
          </a:xfrm>
          <a:prstGeom prst="roundRect">
            <a:avLst>
              <a:gd name="adj" fmla="val 7813"/>
            </a:avLst>
          </a:prstGeom>
          <a:solidFill>
            <a:srgbClr val="16382D"/>
          </a:solidFill>
          <a:ln w="12700">
            <a:solidFill>
              <a:srgbClr val="2C55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49834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8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 1.350.000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046720" y="547725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 mensual sin animación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negocio en una página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fuentes de ingreso y un solo costo que se mueve con las ventas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1B5E43"/>
          </a:solidFill>
          <a:ln w="12700">
            <a:solidFill>
              <a:srgbClr val="1B5E43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22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57984"/>
            <a:ext cx="548640" cy="548640"/>
          </a:xfrm>
          <a:prstGeom prst="ellipse">
            <a:avLst/>
          </a:prstGeom>
          <a:solidFill>
            <a:srgbClr val="E8B44A"/>
          </a:solidFill>
          <a:ln w="12700">
            <a:solidFill>
              <a:srgbClr val="E8B4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3113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91056" y="221284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· clientes recurrentes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 1.700.000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33649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6393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D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clientes que pagan todos los meses.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D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piso: entra sí o sí.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36208" y="187452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0E2A22"/>
          </a:solidFill>
          <a:ln w="12700">
            <a:solidFill>
              <a:srgbClr val="0E2A22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22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0" y="2157984"/>
            <a:ext cx="548640" cy="548640"/>
          </a:xfrm>
          <a:prstGeom prst="ellipse">
            <a:avLst/>
          </a:prstGeom>
          <a:solidFill>
            <a:srgbClr val="E8B44A"/>
          </a:solidFill>
          <a:ln w="12700">
            <a:solidFill>
              <a:srgbClr val="E8B4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23113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260336" y="221284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Animación Lucas Casagrande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2834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 1.600.000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583680" y="33649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mes mientras dure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36393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D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por proyecto, no es sueldo.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D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es el 43% de lo que entra.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43484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F4F6F3"/>
          </a:solidFill>
          <a:ln w="12700">
            <a:solidFill>
              <a:srgbClr val="DCE3DD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22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2688" y="46451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ÚNICO COSTO FIJO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32688" y="4956048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Mariela: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50.000 por cada cliente recurrente. Con 7 clientes son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5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350.000 por mes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Si entra un cliente sube; si se va uno, baja sola.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cambió respecto del plan anterior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ajustes que mueven los dos meses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6903720" cy="896112"/>
          </a:xfrm>
          <a:prstGeom prst="roundRect">
            <a:avLst>
              <a:gd name="adj" fmla="val 10204"/>
            </a:avLst>
          </a:prstGeom>
          <a:solidFill>
            <a:srgbClr val="F4F6F3"/>
          </a:solidFill>
          <a:ln w="12700">
            <a:solidFill>
              <a:srgbClr val="DCE3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121408"/>
            <a:ext cx="457200" cy="457200"/>
          </a:xfrm>
          <a:prstGeom prst="ellipse">
            <a:avLst/>
          </a:prstGeom>
          <a:solidFill>
            <a:srgbClr val="1B5E43"/>
          </a:solidFill>
          <a:ln w="12700">
            <a:solidFill>
              <a:srgbClr val="1B5E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18541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0299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Fiat MP deja de ser cliente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2304288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 ARS 300.000 en agosto y no vuelve. Desde septiembre faltan 300.000 brutos por mes (250.000 netos).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926080"/>
            <a:ext cx="6903720" cy="896112"/>
          </a:xfrm>
          <a:prstGeom prst="roundRect">
            <a:avLst>
              <a:gd name="adj" fmla="val 10204"/>
            </a:avLst>
          </a:prstGeom>
          <a:solidFill>
            <a:srgbClr val="F4F6F3"/>
          </a:solidFill>
          <a:ln w="12700">
            <a:solidFill>
              <a:srgbClr val="DCE3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3145536"/>
            <a:ext cx="457200" cy="457200"/>
          </a:xfrm>
          <a:prstGeom prst="ellipse">
            <a:avLst/>
          </a:prstGeom>
          <a:solidFill>
            <a:srgbClr val="1B5E43"/>
          </a:solidFill>
          <a:ln w="12700">
            <a:solidFill>
              <a:srgbClr val="1B5E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2095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05409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Mariela se calcula por cliente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3328416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50.000 por recurrente. Agosto: 400.000 (incluye la última de Fiat MP, ya contemplada). Septiembre en adelante: 350.000.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950208"/>
            <a:ext cx="6903720" cy="896112"/>
          </a:xfrm>
          <a:prstGeom prst="roundRect">
            <a:avLst>
              <a:gd name="adj" fmla="val 10204"/>
            </a:avLst>
          </a:prstGeom>
          <a:solidFill>
            <a:srgbClr val="F4F6F3"/>
          </a:solidFill>
          <a:ln w="12700">
            <a:solidFill>
              <a:srgbClr val="DCE3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4169664"/>
            <a:ext cx="457200" cy="457200"/>
          </a:xfrm>
          <a:prstGeom prst="ellipse">
            <a:avLst/>
          </a:prstGeom>
          <a:solidFill>
            <a:srgbClr val="1B5E43"/>
          </a:solidFill>
          <a:ln w="12700">
            <a:solidFill>
              <a:srgbClr val="1B5E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23367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07822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gastos fijos mensuales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4352544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Financista, multa y tarjeta son gastos puntuales de agosto, no estructura. Fuera de Mariela, el mes no tiene costo fijo.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18120" y="1901952"/>
            <a:ext cx="3803904" cy="3054096"/>
          </a:xfrm>
          <a:prstGeom prst="roundRect">
            <a:avLst>
              <a:gd name="adj" fmla="val 2994"/>
            </a:avLst>
          </a:prstGeom>
          <a:solidFill>
            <a:srgbClr val="0E2A22"/>
          </a:solidFill>
          <a:ln w="12700">
            <a:solidFill>
              <a:srgbClr val="0E2A22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22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92440" y="21031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EL SALDO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92440" y="25146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2440" y="2788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trike="sngStrike" dirty="0">
                <a:solidFill>
                  <a:srgbClr val="8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 ARS 450.000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092440" y="304495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 650.000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092440" y="36850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92440" y="39593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trike="sngStrike" dirty="0">
                <a:solidFill>
                  <a:srgbClr val="8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 ARS 2.550.000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92440" y="421538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 3.350.000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66928" y="51389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meses cierran mejor: el ahorro en Mariela y la salida de la tarjeta pesan más que la pérdida de Fiat MP.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7 clientes recurrentes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entra todos los meses y lo que queda después de pagarle a Mariela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74520"/>
          <a:ext cx="74066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234440"/>
                <a:gridCol w="1234440"/>
                <a:gridCol w="1234440"/>
                <a:gridCol w="10515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Mariela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Cementera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C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Macellaio Carnes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C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Muñoz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C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C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RIFI Burger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C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RIFI comida árabe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C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4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Polcher social media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4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B7C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4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4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-350.000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B4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1.350.000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7315200" marT="0" marB="0" anchor="ctr">
                    <a:lnL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1874520"/>
            <a:ext cx="7406640" cy="329184"/>
          </a:xfrm>
          <a:prstGeom prst="rect">
            <a:avLst/>
          </a:prstGeom>
          <a:solidFill>
            <a:srgbClr val="1B5E43"/>
          </a:solidFill>
          <a:ln w="12700">
            <a:solidFill>
              <a:srgbClr val="1B5E4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8745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218688" y="1874520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453128" y="1874520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Mariela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687568" y="1874520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922008" y="1874520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66928" y="4507992"/>
            <a:ext cx="7406640" cy="329184"/>
          </a:xfrm>
          <a:prstGeom prst="rect">
            <a:avLst/>
          </a:prstGeom>
          <a:solidFill>
            <a:srgbClr val="0E2A22"/>
          </a:solidFill>
          <a:ln w="12700">
            <a:solidFill>
              <a:srgbClr val="0E2A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45079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18688" y="4507992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1.700.000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453128" y="4507992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B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-350.000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687568" y="4507992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1.350.000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922008" y="4507992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275320" y="1874520"/>
            <a:ext cx="3346704" cy="1024128"/>
          </a:xfrm>
          <a:prstGeom prst="roundRect">
            <a:avLst>
              <a:gd name="adj" fmla="val 8929"/>
            </a:avLst>
          </a:prstGeom>
          <a:solidFill>
            <a:srgbClr val="1B5E43"/>
          </a:solidFill>
          <a:ln w="12700">
            <a:solidFill>
              <a:srgbClr val="1B5E43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22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522208" y="19933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Neto recurrente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522208" y="22037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 1.350.000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522208" y="2560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FD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queda por mes sin tocar la animación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275320" y="3044952"/>
            <a:ext cx="3346704" cy="1024128"/>
          </a:xfrm>
          <a:prstGeom prst="roundRect">
            <a:avLst>
              <a:gd name="adj" fmla="val 8929"/>
            </a:avLst>
          </a:prstGeom>
          <a:solidFill>
            <a:srgbClr val="F4F6F3"/>
          </a:solidFill>
          <a:ln w="12700">
            <a:solidFill>
              <a:srgbClr val="DCE3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22208" y="316382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Cementera sola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522208" y="33741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29,4%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8522208" y="37307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todo lo recurrente. Es el cliente que no se puede perder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275320" y="4215384"/>
            <a:ext cx="3346704" cy="1024128"/>
          </a:xfrm>
          <a:prstGeom prst="roundRect">
            <a:avLst>
              <a:gd name="adj" fmla="val 8929"/>
            </a:avLst>
          </a:prstGeom>
          <a:solidFill>
            <a:srgbClr val="F4F6F3"/>
          </a:solidFill>
          <a:ln w="12700">
            <a:solidFill>
              <a:srgbClr val="DCE3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522208" y="433425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Polcher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522208" y="45445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 de margen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8522208" y="49011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100.000 deja 50.000. Es el único abajo del 75%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66928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cada cliente recurrente deja su precio menos 50.000. Por eso los chicos duelen más que los grandes.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Agosto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mes pesado: entra bien pero se va casi todo en gastos de una sola vez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486400" cy="3163824"/>
          </a:xfrm>
          <a:prstGeom prst="roundRect">
            <a:avLst>
              <a:gd name="adj" fmla="val 2890"/>
            </a:avLst>
          </a:prstGeom>
          <a:solidFill>
            <a:srgbClr val="F4F6F3"/>
          </a:solidFill>
          <a:ln w="12700">
            <a:solidFill>
              <a:srgbClr val="DC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0482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5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86968" y="23957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Recurrentes (7 clientes)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70248" y="2395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1.700.000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27249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Fiat MP · último pago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70248" y="2724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300.000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968" y="30540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Pugliese Studio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70248" y="30540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300.000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6968" y="33832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Psicólogos branding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70248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" y="37124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Animación · 15/08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70248" y="3712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800.000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" y="40416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Animación · 31/08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70248" y="40416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800.000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6968" y="4443984"/>
            <a:ext cx="4846320" cy="10973"/>
          </a:xfrm>
          <a:prstGeom prst="rect">
            <a:avLst/>
          </a:prstGeom>
          <a:solidFill>
            <a:srgbClr val="DCE3DD"/>
          </a:solidFill>
          <a:ln w="12700">
            <a:solidFill>
              <a:srgbClr val="DCE3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45354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355848" y="45171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B5E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 4.000.000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263640" y="1874520"/>
            <a:ext cx="5358384" cy="3163824"/>
          </a:xfrm>
          <a:prstGeom prst="roundRect">
            <a:avLst>
              <a:gd name="adj" fmla="val 2890"/>
            </a:avLst>
          </a:prstGeom>
          <a:solidFill>
            <a:srgbClr val="F4F6F3"/>
          </a:solidFill>
          <a:ln w="12700">
            <a:solidFill>
              <a:srgbClr val="DCE3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0482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4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0" y="23957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Financista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875520" y="2395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-1.600.000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2724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de tu vieja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875520" y="2724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-1.000.000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30540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Mariela (8 × 50.000)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75520" y="30540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-400.000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0" y="3383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7552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-350.000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83680" y="3785616"/>
            <a:ext cx="4754880" cy="10973"/>
          </a:xfrm>
          <a:prstGeom prst="rect">
            <a:avLst/>
          </a:prstGeom>
          <a:solidFill>
            <a:srgbClr val="DCE3DD"/>
          </a:solidFill>
          <a:ln w="12700">
            <a:solidFill>
              <a:srgbClr val="DCE3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38770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961120" y="38587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4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-ARS 3.350.000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566928" y="5148072"/>
            <a:ext cx="11064240" cy="1225296"/>
          </a:xfrm>
          <a:prstGeom prst="roundRect">
            <a:avLst>
              <a:gd name="adj" fmla="val 7463"/>
            </a:avLst>
          </a:prstGeom>
          <a:solidFill>
            <a:srgbClr val="0E2A22"/>
          </a:solidFill>
          <a:ln w="12700">
            <a:solidFill>
              <a:srgbClr val="0E2A22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22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50976" y="532180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en agosto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50976" y="565099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Mariela cobra 400.000 porque agosto todavía incluye la última de Fiat MP. Los otros tres gastos son de una sola vez.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498080" y="544982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E8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 650.000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Septiembre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gastos puntuales, casi todo lo que entra queda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486400" cy="3163824"/>
          </a:xfrm>
          <a:prstGeom prst="roundRect">
            <a:avLst>
              <a:gd name="adj" fmla="val 2890"/>
            </a:avLst>
          </a:prstGeom>
          <a:solidFill>
            <a:srgbClr val="F4F6F3"/>
          </a:solidFill>
          <a:ln w="12700">
            <a:solidFill>
              <a:srgbClr val="DC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0482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5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86968" y="23957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Recurrentes (7 clientes)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70248" y="2395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1.700.000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27249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Santander / Landia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70248" y="2724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400.000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968" y="30540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Animación Lucas Casagrande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70248" y="30540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1.600.000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6968" y="3456432"/>
            <a:ext cx="4846320" cy="10973"/>
          </a:xfrm>
          <a:prstGeom prst="rect">
            <a:avLst/>
          </a:prstGeom>
          <a:solidFill>
            <a:srgbClr val="DCE3DD"/>
          </a:solidFill>
          <a:ln w="12700">
            <a:solidFill>
              <a:srgbClr val="DCE3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35478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55848" y="35295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B5E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 3.700.000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86968" y="422452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Fiat MP ya no aparece: son 300.000 brutos menos por mes. Los 7 recurrentes quedan como el piso fijo.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1874520"/>
            <a:ext cx="5358384" cy="3163824"/>
          </a:xfrm>
          <a:prstGeom prst="roundRect">
            <a:avLst>
              <a:gd name="adj" fmla="val 2890"/>
            </a:avLst>
          </a:prstGeom>
          <a:solidFill>
            <a:srgbClr val="F4F6F3"/>
          </a:solidFill>
          <a:ln w="12700">
            <a:solidFill>
              <a:srgbClr val="DCE3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0482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4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0" y="23957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Mariela (7 × 50.000)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875520" y="2395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-350.000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0" y="2798064"/>
            <a:ext cx="4754880" cy="10973"/>
          </a:xfrm>
          <a:prstGeom prst="rect">
            <a:avLst/>
          </a:prstGeom>
          <a:solidFill>
            <a:srgbClr val="DCE3DD"/>
          </a:solidFill>
          <a:ln w="12700">
            <a:solidFill>
              <a:srgbClr val="DCE3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288950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61120" y="287121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4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-ARS 350.000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83680" y="4224528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financista, ni multa, ni tarjeta. Septiembre no tiene ningún gasto de una sola vez.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5148072"/>
            <a:ext cx="11064240" cy="1225296"/>
          </a:xfrm>
          <a:prstGeom prst="roundRect">
            <a:avLst>
              <a:gd name="adj" fmla="val 7463"/>
            </a:avLst>
          </a:prstGeom>
          <a:solidFill>
            <a:srgbClr val="0E2A22"/>
          </a:solidFill>
          <a:ln w="12700">
            <a:solidFill>
              <a:srgbClr val="0E2A22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22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50976" y="532180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en septiembre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50976" y="565099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tarjeta de 1.000.000 vuelve a caer en septiembre, el saldo baja a ARS 2.350.000.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98080" y="544982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E8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 3.350.000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agosto a octubre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Octubre es el mes de verdad: sin puntuales y sin saber si sigue la animación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828800"/>
          <a:ext cx="72237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092440" y="1828800"/>
            <a:ext cx="3529584" cy="1024128"/>
          </a:xfrm>
          <a:prstGeom prst="roundRect">
            <a:avLst>
              <a:gd name="adj" fmla="val 8929"/>
            </a:avLst>
          </a:prstGeom>
          <a:solidFill>
            <a:srgbClr val="F4F6F3"/>
          </a:solidFill>
          <a:ln w="12700">
            <a:solidFill>
              <a:srgbClr val="DCE3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39328" y="19476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Octubre base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339328" y="21579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 1.350.000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339328" y="25146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los 7 recurrentes menos Mariela. Es el piso real del negocio.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092440" y="2999232"/>
            <a:ext cx="3529584" cy="1024128"/>
          </a:xfrm>
          <a:prstGeom prst="roundRect">
            <a:avLst>
              <a:gd name="adj" fmla="val 8929"/>
            </a:avLst>
          </a:prstGeom>
          <a:solidFill>
            <a:srgbClr val="1B5E43"/>
          </a:solidFill>
          <a:ln w="12700">
            <a:solidFill>
              <a:srgbClr val="1B5E43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22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339328" y="31181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Octubre con animación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339328" y="33284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 2.950.000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339328" y="36850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FD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animación sigue al mismo nivel.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092440" y="4169664"/>
            <a:ext cx="3529584" cy="1024128"/>
          </a:xfrm>
          <a:prstGeom prst="roundRect">
            <a:avLst>
              <a:gd name="adj" fmla="val 8929"/>
            </a:avLst>
          </a:prstGeom>
          <a:solidFill>
            <a:srgbClr val="0E2A22"/>
          </a:solidFill>
          <a:ln w="12700">
            <a:solidFill>
              <a:srgbClr val="0E2A22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22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339328" y="42885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 ago + sep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339328" y="44988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 4.000.000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339328" y="48554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FD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 en mano al cerrar septiembre, si la tarjeta no se repite.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66928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septiembre y octubre el ingreso puede caer a la mitad. No es un problema de gastos: es que la animación se termina.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está el riesgo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dónde viene la plata de septiembre y qué pasa si falla una pata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828800"/>
          <a:ext cx="42976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230368" y="1828800"/>
            <a:ext cx="6391656" cy="786384"/>
          </a:xfrm>
          <a:prstGeom prst="roundRect">
            <a:avLst>
              <a:gd name="adj" fmla="val 11628"/>
            </a:avLst>
          </a:prstGeom>
          <a:solidFill>
            <a:srgbClr val="F4F6F3"/>
          </a:solidFill>
          <a:ln w="12700">
            <a:solidFill>
              <a:srgbClr val="DCE3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0" y="2084832"/>
            <a:ext cx="274320" cy="274320"/>
          </a:xfrm>
          <a:prstGeom prst="ellipse">
            <a:avLst/>
          </a:prstGeom>
          <a:solidFill>
            <a:srgbClr val="C4553D"/>
          </a:solidFill>
          <a:ln w="12700">
            <a:solidFill>
              <a:srgbClr val="C455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animación es el 43% de septiembre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97880" y="218541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corta y no entra nada en su lugar, el mes pasa de 3.700.000 a 2.100.000. Es el riesgo más grande y el más probable.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230368" y="2697480"/>
            <a:ext cx="6391656" cy="786384"/>
          </a:xfrm>
          <a:prstGeom prst="roundRect">
            <a:avLst>
              <a:gd name="adj" fmla="val 11628"/>
            </a:avLst>
          </a:prstGeom>
          <a:solidFill>
            <a:srgbClr val="F4F6F3"/>
          </a:solidFill>
          <a:ln w="12700">
            <a:solidFill>
              <a:srgbClr val="DCE3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0" y="2953512"/>
            <a:ext cx="274320" cy="274320"/>
          </a:xfrm>
          <a:prstGeom prst="ellipse">
            <a:avLst/>
          </a:prstGeom>
          <a:solidFill>
            <a:srgbClr val="C4553D"/>
          </a:solidFill>
          <a:ln w="12700">
            <a:solidFill>
              <a:srgbClr val="C455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97880" y="2788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Cementera es el 29% de lo recurrente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897880" y="305409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cliente sostiene casi un tercio del piso. Perderlo son 450.000 netos por mes.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230368" y="3566160"/>
            <a:ext cx="6391656" cy="786384"/>
          </a:xfrm>
          <a:prstGeom prst="roundRect">
            <a:avLst>
              <a:gd name="adj" fmla="val 11628"/>
            </a:avLst>
          </a:prstGeom>
          <a:solidFill>
            <a:srgbClr val="F4F6F3"/>
          </a:solidFill>
          <a:ln w="12700">
            <a:solidFill>
              <a:srgbClr val="DCE3D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0" y="3822192"/>
            <a:ext cx="274320" cy="274320"/>
          </a:xfrm>
          <a:prstGeom prst="ellipse">
            <a:avLst/>
          </a:prstGeom>
          <a:solidFill>
            <a:srgbClr val="E8B44A"/>
          </a:solidFill>
          <a:ln w="12700">
            <a:solidFill>
              <a:srgbClr val="E8B4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9788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reemplazar a Fiat MP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897880" y="39227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septiembre faltan 250.000 netos por mes. Hace falta un recurrente de 300.000 para volver a donde estabas.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30368" y="4434840"/>
            <a:ext cx="6391656" cy="786384"/>
          </a:xfrm>
          <a:prstGeom prst="roundRect">
            <a:avLst>
              <a:gd name="adj" fmla="val 11628"/>
            </a:avLst>
          </a:prstGeom>
          <a:solidFill>
            <a:srgbClr val="F4F6F3"/>
          </a:solidFill>
          <a:ln w="12700">
            <a:solidFill>
              <a:srgbClr val="DCE3D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0" y="4690872"/>
            <a:ext cx="274320" cy="274320"/>
          </a:xfrm>
          <a:prstGeom prst="ellipse">
            <a:avLst/>
          </a:prstGeom>
          <a:solidFill>
            <a:srgbClr val="E8B44A"/>
          </a:solidFill>
          <a:ln w="12700">
            <a:solidFill>
              <a:srgbClr val="E8B4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9788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gastos personales cargados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897880" y="479145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solo tiene costos del negocio. La tarjeta de 1.000.000 sugiere que la vida cuesta bastante más que Mariela.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reglas para manejar la plata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Simples, chequeables una vez por mes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394960" cy="1133856"/>
          </a:xfrm>
          <a:prstGeom prst="roundRect">
            <a:avLst>
              <a:gd name="adj" fmla="val 8065"/>
            </a:avLst>
          </a:prstGeom>
          <a:solidFill>
            <a:srgbClr val="F4F6F3"/>
          </a:solidFill>
          <a:ln w="12700">
            <a:solidFill>
              <a:srgbClr val="DCE3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203704"/>
            <a:ext cx="475488" cy="475488"/>
          </a:xfrm>
          <a:prstGeom prst="ellipse">
            <a:avLst/>
          </a:prstGeom>
          <a:solidFill>
            <a:srgbClr val="1B5E43"/>
          </a:solidFill>
          <a:ln w="12700">
            <a:solidFill>
              <a:srgbClr val="1B5E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276856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17904" y="20756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Separá las dos fuentes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17904" y="2386584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recurrente paga la vida. La animación es capital, no sueldo: no la gastes como si entrara todos los meses.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6208" y="1874520"/>
            <a:ext cx="5394960" cy="1133856"/>
          </a:xfrm>
          <a:prstGeom prst="roundRect">
            <a:avLst>
              <a:gd name="adj" fmla="val 8065"/>
            </a:avLst>
          </a:prstGeom>
          <a:solidFill>
            <a:srgbClr val="F4F6F3"/>
          </a:solidFill>
          <a:ln w="12700">
            <a:solidFill>
              <a:srgbClr val="DCE3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28816" y="2203704"/>
            <a:ext cx="475488" cy="475488"/>
          </a:xfrm>
          <a:prstGeom prst="ellipse">
            <a:avLst/>
          </a:prstGeom>
          <a:solidFill>
            <a:srgbClr val="1B5E43"/>
          </a:solidFill>
          <a:ln w="12700">
            <a:solidFill>
              <a:srgbClr val="1B5E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28816" y="2276856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87184" y="20756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recurrente abajo de 150.000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87184" y="2386584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Mariela se lleva 50.000 fijos por cliente. A 100.000 el margen es 50%; a 150.000 ya es 67%.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172968"/>
            <a:ext cx="5394960" cy="1133856"/>
          </a:xfrm>
          <a:prstGeom prst="roundRect">
            <a:avLst>
              <a:gd name="adj" fmla="val 8065"/>
            </a:avLst>
          </a:prstGeom>
          <a:solidFill>
            <a:srgbClr val="F4F6F3"/>
          </a:solidFill>
          <a:ln w="12700">
            <a:solidFill>
              <a:srgbClr val="DCE3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" y="3502152"/>
            <a:ext cx="475488" cy="475488"/>
          </a:xfrm>
          <a:prstGeom prst="ellipse">
            <a:avLst/>
          </a:prstGeom>
          <a:solidFill>
            <a:srgbClr val="1B5E43"/>
          </a:solidFill>
          <a:ln w="12700">
            <a:solidFill>
              <a:srgbClr val="1B5E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3575304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17904" y="33741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Reemplazá a Fiat MP antes de octubre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17904" y="3685032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recurrente de 300.000 te devuelve los 250.000 netos que perdiste. Es el objetivo comercial del trimestre.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36208" y="3172968"/>
            <a:ext cx="5394960" cy="1133856"/>
          </a:xfrm>
          <a:prstGeom prst="roundRect">
            <a:avLst>
              <a:gd name="adj" fmla="val 8065"/>
            </a:avLst>
          </a:prstGeom>
          <a:solidFill>
            <a:srgbClr val="F4F6F3"/>
          </a:solidFill>
          <a:ln w="12700">
            <a:solidFill>
              <a:srgbClr val="DCE3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28816" y="3502152"/>
            <a:ext cx="475488" cy="475488"/>
          </a:xfrm>
          <a:prstGeom prst="ellipse">
            <a:avLst/>
          </a:prstGeom>
          <a:solidFill>
            <a:srgbClr val="1B5E43"/>
          </a:solidFill>
          <a:ln w="12700">
            <a:solidFill>
              <a:srgbClr val="1B5E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28816" y="3575304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87184" y="33741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Guardá 3 meses de piso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87184" y="3685032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excedente de septiembre, apartá ARS 4.000.000 antes de gastar. Cubre tres meses sin animación.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4471416"/>
            <a:ext cx="11064240" cy="1133856"/>
          </a:xfrm>
          <a:prstGeom prst="roundRect">
            <a:avLst>
              <a:gd name="adj" fmla="val 8065"/>
            </a:avLst>
          </a:prstGeom>
          <a:solidFill>
            <a:srgbClr val="0E2A22"/>
          </a:solidFill>
          <a:ln w="12700">
            <a:solidFill>
              <a:srgbClr val="0E2A22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22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59536" y="4800600"/>
            <a:ext cx="475488" cy="475488"/>
          </a:xfrm>
          <a:prstGeom prst="ellipse">
            <a:avLst/>
          </a:prstGeom>
          <a:solidFill>
            <a:srgbClr val="E8B44A"/>
          </a:solidFill>
          <a:ln w="12700">
            <a:solidFill>
              <a:srgbClr val="E8B4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487375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517904" y="4672584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Revisá Polcher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17904" y="4983480"/>
            <a:ext cx="9784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FD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sube a 150.000 o libera el tiempo para un cliente que deje más. Hoy deja 50.000 por mes.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076127" y="645566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291840"/>
            <a:ext cx="5669280" cy="5669280"/>
          </a:xfrm>
          <a:prstGeom prst="ellipse">
            <a:avLst/>
          </a:prstGeom>
          <a:solidFill>
            <a:srgbClr val="16382D"/>
          </a:solidFill>
          <a:ln w="12700">
            <a:solidFill>
              <a:srgbClr val="1638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CERRAR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cosas que hay que confirmar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números de arriba asumen estas respuestas. Si alguna cambia, cambia el plan.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286000"/>
            <a:ext cx="5394960" cy="1243584"/>
          </a:xfrm>
          <a:prstGeom prst="roundRect">
            <a:avLst>
              <a:gd name="adj" fmla="val 7353"/>
            </a:avLst>
          </a:prstGeom>
          <a:solidFill>
            <a:srgbClr val="16382D"/>
          </a:solidFill>
          <a:ln w="12700">
            <a:solidFill>
              <a:srgbClr val="2C55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4505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tarjeta de 1.000.000 se repite todos los meses?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294436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 mensual, deja de ser un gasto puntual y el piso de octubre baja de 1.350.000 a 350.000.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36208" y="2286000"/>
            <a:ext cx="5394960" cy="1243584"/>
          </a:xfrm>
          <a:prstGeom prst="roundRect">
            <a:avLst>
              <a:gd name="adj" fmla="val 7353"/>
            </a:avLst>
          </a:prstGeom>
          <a:solidFill>
            <a:srgbClr val="16382D"/>
          </a:solidFill>
          <a:ln w="12700">
            <a:solidFill>
              <a:srgbClr val="2C55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47104" y="24505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¿Santander / Landia es puntual o queda como recurrente?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47104" y="294436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queda, son 350.000 netos más por mes y el octavo cliente de Mariela.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703320"/>
            <a:ext cx="5394960" cy="1243584"/>
          </a:xfrm>
          <a:prstGeom prst="roundRect">
            <a:avLst>
              <a:gd name="adj" fmla="val 7353"/>
            </a:avLst>
          </a:prstGeom>
          <a:solidFill>
            <a:srgbClr val="16382D"/>
          </a:solidFill>
          <a:ln w="12700">
            <a:solidFill>
              <a:srgbClr val="2C55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86791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animación sigue después de septiembre?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7824" y="436168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43% de lo que entra. Definir esto antes de comprometer gastos.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6208" y="3703320"/>
            <a:ext cx="5394960" cy="1243584"/>
          </a:xfrm>
          <a:prstGeom prst="roundRect">
            <a:avLst>
              <a:gd name="adj" fmla="val 7353"/>
            </a:avLst>
          </a:prstGeom>
          <a:solidFill>
            <a:srgbClr val="16382D"/>
          </a:solidFill>
          <a:ln w="12700">
            <a:solidFill>
              <a:srgbClr val="2C55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386791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te cuesta vivir por mes?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47104" y="436168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el plan no tiene ningún gasto personal cargado. Sin ese número, el saldo no dice si alcanza.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 del negocio hoy: ARS 1.350.000 netos por mes, todos los meses, sin depender de nadie nuevo.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Finanzas Agosto-Septiembre 2026</dc:title>
  <dc:subject>PptxGenJS Presentation</dc:subject>
  <dc:creator>Chimichurri</dc:creator>
  <cp:lastModifiedBy>Chimichurri</cp:lastModifiedBy>
  <cp:revision>1</cp:revision>
  <dcterms:created xsi:type="dcterms:W3CDTF">2026-07-27T21:32:24Z</dcterms:created>
  <dcterms:modified xsi:type="dcterms:W3CDTF">2026-07-27T21:32:24Z</dcterms:modified>
</cp:coreProperties>
</file>